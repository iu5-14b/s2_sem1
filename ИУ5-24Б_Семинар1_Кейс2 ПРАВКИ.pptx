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6" r:id="rId8"/>
    <p:sldId id="267" r:id="rId9"/>
    <p:sldId id="260" r:id="rId10"/>
    <p:sldId id="264" r:id="rId11"/>
    <p:sldId id="263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135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365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566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476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758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481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769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952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368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026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904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DBF5BC-6BDD-1D48-793F-76C7D0CFCE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040" y="885952"/>
            <a:ext cx="10789920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900" dirty="0"/>
              <a:t>Семинар 1</a:t>
            </a:r>
            <a:br>
              <a:rPr lang="ru-RU" sz="4900" dirty="0"/>
            </a:br>
            <a:r>
              <a:rPr lang="ru-RU" sz="4900" dirty="0"/>
              <a:t>Кейс 2: Система банковских счетов</a:t>
            </a:r>
            <a:br>
              <a:rPr lang="ru-RU" b="0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D4F2DAC-84DF-6EDF-6C98-33818DEDB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40352" y="2825496"/>
            <a:ext cx="3511296" cy="4032504"/>
          </a:xfrm>
        </p:spPr>
        <p:txBody>
          <a:bodyPr>
            <a:normAutofit/>
          </a:bodyPr>
          <a:lstStyle/>
          <a:p>
            <a:pPr algn="ctr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Группа ИУ5-24Б</a:t>
            </a:r>
          </a:p>
          <a:p>
            <a:pPr algn="ctr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Бутузов Роман</a:t>
            </a:r>
          </a:p>
          <a:p>
            <a:pPr algn="ctr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Корнеев Григорий</a:t>
            </a:r>
          </a:p>
          <a:p>
            <a:pPr algn="ctr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Лимаренко Дарья </a:t>
            </a:r>
          </a:p>
          <a:p>
            <a:pPr algn="ctr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Олейник Владимир </a:t>
            </a:r>
          </a:p>
          <a:p>
            <a:pPr algn="ctr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Стеганцева Ксения</a:t>
            </a:r>
          </a:p>
          <a:p>
            <a:pPr algn="ctr"/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Шебордаев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Андрей</a:t>
            </a:r>
          </a:p>
        </p:txBody>
      </p:sp>
    </p:spTree>
    <p:extLst>
      <p:ext uri="{BB962C8B-B14F-4D97-AF65-F5344CB8AC3E}">
        <p14:creationId xmlns:p14="http://schemas.microsoft.com/office/powerpoint/2010/main" val="4251492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DBB5E6-8BB7-0484-EC8B-ABB0DE4B6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981" y="338328"/>
            <a:ext cx="2844038" cy="941451"/>
          </a:xfrm>
        </p:spPr>
        <p:txBody>
          <a:bodyPr>
            <a:normAutofit/>
          </a:bodyPr>
          <a:lstStyle/>
          <a:p>
            <a:r>
              <a:rPr lang="ru-RU" sz="4800" dirty="0"/>
              <a:t>задачи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CFA20B-FFCB-79A5-0CD1-7EC2F75FC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9056" y="1571943"/>
            <a:ext cx="11478768" cy="4618545"/>
          </a:xfrm>
        </p:spPr>
        <p:txBody>
          <a:bodyPr>
            <a:normAutofit lnSpcReduction="10000"/>
          </a:bodyPr>
          <a:lstStyle/>
          <a:p>
            <a:r>
              <a:rPr lang="ru-RU" b="1" dirty="0">
                <a:solidFill>
                  <a:schemeClr val="tx1"/>
                </a:solidFill>
              </a:rPr>
              <a:t>Цель: </a:t>
            </a:r>
            <a:r>
              <a:rPr lang="ru-RU" dirty="0">
                <a:solidFill>
                  <a:schemeClr val="tx1"/>
                </a:solidFill>
              </a:rPr>
              <a:t>разработать консольное ООП-приложение на C++, используя современный стек инструментов (VS Code + WSL2 + </a:t>
            </a:r>
            <a:r>
              <a:rPr lang="ru-RU" dirty="0" err="1">
                <a:solidFill>
                  <a:schemeClr val="tx1"/>
                </a:solidFill>
              </a:rPr>
              <a:t>CMake</a:t>
            </a:r>
            <a:r>
              <a:rPr lang="ru-RU" dirty="0">
                <a:solidFill>
                  <a:schemeClr val="tx1"/>
                </a:solidFill>
              </a:rPr>
              <a:t> + </a:t>
            </a:r>
            <a:r>
              <a:rPr lang="ru-RU" dirty="0" err="1">
                <a:solidFill>
                  <a:schemeClr val="tx1"/>
                </a:solidFill>
              </a:rPr>
              <a:t>Git</a:t>
            </a:r>
            <a:r>
              <a:rPr lang="ru-RU" dirty="0">
                <a:solidFill>
                  <a:schemeClr val="tx1"/>
                </a:solidFill>
              </a:rPr>
              <a:t>) и распределение ролей.</a:t>
            </a:r>
          </a:p>
          <a:p>
            <a:r>
              <a:rPr lang="ru-RU" b="1" dirty="0">
                <a:solidFill>
                  <a:schemeClr val="tx1"/>
                </a:solidFill>
              </a:rPr>
              <a:t>Кейс 2: </a:t>
            </a:r>
            <a:r>
              <a:rPr lang="ru-RU" dirty="0">
                <a:solidFill>
                  <a:schemeClr val="tx1"/>
                </a:solidFill>
              </a:rPr>
              <a:t>Система банковских счетов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b="1" dirty="0">
                <a:solidFill>
                  <a:schemeClr val="tx1"/>
                </a:solidFill>
              </a:rPr>
              <a:t>Класс 1: </a:t>
            </a:r>
            <a:r>
              <a:rPr lang="en-US" dirty="0" err="1">
                <a:solidFill>
                  <a:schemeClr val="tx1"/>
                </a:solidFill>
              </a:rPr>
              <a:t>BankAccount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  · </a:t>
            </a:r>
            <a:r>
              <a:rPr lang="ru-RU" dirty="0">
                <a:solidFill>
                  <a:schemeClr val="tx1"/>
                </a:solidFill>
              </a:rPr>
              <a:t>Поля: </a:t>
            </a:r>
            <a:r>
              <a:rPr lang="en-US" dirty="0" err="1">
                <a:solidFill>
                  <a:schemeClr val="tx1"/>
                </a:solidFill>
              </a:rPr>
              <a:t>accountNumber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ru-RU" dirty="0">
                <a:solidFill>
                  <a:schemeClr val="tx1"/>
                </a:solidFill>
              </a:rPr>
              <a:t>строка), </a:t>
            </a:r>
            <a:r>
              <a:rPr lang="en-US" dirty="0" err="1">
                <a:solidFill>
                  <a:schemeClr val="tx1"/>
                </a:solidFill>
              </a:rPr>
              <a:t>ownerName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ru-RU" dirty="0">
                <a:solidFill>
                  <a:schemeClr val="tx1"/>
                </a:solidFill>
              </a:rPr>
              <a:t>строка), </a:t>
            </a:r>
            <a:r>
              <a:rPr lang="en-US" dirty="0">
                <a:solidFill>
                  <a:schemeClr val="tx1"/>
                </a:solidFill>
              </a:rPr>
              <a:t>balance (double).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  · </a:t>
            </a:r>
            <a:r>
              <a:rPr lang="ru-RU" dirty="0">
                <a:solidFill>
                  <a:schemeClr val="tx1"/>
                </a:solidFill>
              </a:rPr>
              <a:t>Методы: конструкторы, </a:t>
            </a:r>
            <a:r>
              <a:rPr lang="en-US" dirty="0">
                <a:solidFill>
                  <a:schemeClr val="tx1"/>
                </a:solidFill>
              </a:rPr>
              <a:t>deposit(double amount), withdraw(double amount), </a:t>
            </a:r>
            <a:r>
              <a:rPr lang="en-US" dirty="0" err="1">
                <a:solidFill>
                  <a:schemeClr val="tx1"/>
                </a:solidFill>
              </a:rPr>
              <a:t>getBalance</a:t>
            </a:r>
            <a:r>
              <a:rPr lang="en-US" dirty="0">
                <a:solidFill>
                  <a:schemeClr val="tx1"/>
                </a:solidFill>
              </a:rPr>
              <a:t>(), </a:t>
            </a:r>
            <a:r>
              <a:rPr lang="en-US" dirty="0" err="1">
                <a:solidFill>
                  <a:schemeClr val="tx1"/>
                </a:solidFill>
              </a:rPr>
              <a:t>printStatement</a:t>
            </a:r>
            <a:r>
              <a:rPr lang="en-US" dirty="0">
                <a:solidFill>
                  <a:schemeClr val="tx1"/>
                </a:solidFill>
              </a:rPr>
              <a:t>().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ru-RU" b="1" dirty="0">
                <a:solidFill>
                  <a:schemeClr val="tx1"/>
                </a:solidFill>
              </a:rPr>
              <a:t>Класс 2: </a:t>
            </a:r>
            <a:r>
              <a:rPr lang="en-US" dirty="0">
                <a:solidFill>
                  <a:schemeClr val="tx1"/>
                </a:solidFill>
              </a:rPr>
              <a:t>Bank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  · </a:t>
            </a:r>
            <a:r>
              <a:rPr lang="ru-RU" dirty="0">
                <a:solidFill>
                  <a:schemeClr val="tx1"/>
                </a:solidFill>
              </a:rPr>
              <a:t>Поля: массив или вектор объектов </a:t>
            </a:r>
            <a:r>
              <a:rPr lang="en-US" dirty="0" err="1">
                <a:solidFill>
                  <a:schemeClr val="tx1"/>
                </a:solidFill>
              </a:rPr>
              <a:t>BankAccount</a:t>
            </a:r>
            <a:r>
              <a:rPr lang="en-US" dirty="0">
                <a:solidFill>
                  <a:schemeClr val="tx1"/>
                </a:solidFill>
              </a:rPr>
              <a:t>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  · </a:t>
            </a:r>
            <a:r>
              <a:rPr lang="ru-RU" dirty="0">
                <a:solidFill>
                  <a:schemeClr val="tx1"/>
                </a:solidFill>
              </a:rPr>
              <a:t>Методы: </a:t>
            </a:r>
            <a:r>
              <a:rPr lang="en-US" dirty="0" err="1">
                <a:solidFill>
                  <a:schemeClr val="tx1"/>
                </a:solidFill>
              </a:rPr>
              <a:t>createAccount</a:t>
            </a:r>
            <a:r>
              <a:rPr lang="en-US" dirty="0">
                <a:solidFill>
                  <a:schemeClr val="tx1"/>
                </a:solidFill>
              </a:rPr>
              <a:t>(const string&amp; owner), </a:t>
            </a:r>
            <a:r>
              <a:rPr lang="en-US" dirty="0" err="1">
                <a:solidFill>
                  <a:schemeClr val="tx1"/>
                </a:solidFill>
              </a:rPr>
              <a:t>getAccount</a:t>
            </a:r>
            <a:r>
              <a:rPr lang="en-US" dirty="0">
                <a:solidFill>
                  <a:schemeClr val="tx1"/>
                </a:solidFill>
              </a:rPr>
              <a:t>(const string&amp; </a:t>
            </a:r>
            <a:r>
              <a:rPr lang="en-US" dirty="0" err="1">
                <a:solidFill>
                  <a:schemeClr val="tx1"/>
                </a:solidFill>
              </a:rPr>
              <a:t>accNum</a:t>
            </a:r>
            <a:r>
              <a:rPr lang="en-US" dirty="0">
                <a:solidFill>
                  <a:schemeClr val="tx1"/>
                </a:solidFill>
              </a:rPr>
              <a:t>) -&gt; </a:t>
            </a:r>
            <a:r>
              <a:rPr lang="en-US" dirty="0" err="1">
                <a:solidFill>
                  <a:schemeClr val="tx1"/>
                </a:solidFill>
              </a:rPr>
              <a:t>BankAccount</a:t>
            </a:r>
            <a:r>
              <a:rPr lang="en-US" dirty="0">
                <a:solidFill>
                  <a:schemeClr val="tx1"/>
                </a:solidFill>
              </a:rPr>
              <a:t>*, </a:t>
            </a:r>
            <a:r>
              <a:rPr lang="en-US" dirty="0" err="1">
                <a:solidFill>
                  <a:schemeClr val="tx1"/>
                </a:solidFill>
              </a:rPr>
              <a:t>totalBankBalance</a:t>
            </a:r>
            <a:r>
              <a:rPr lang="en-US" dirty="0">
                <a:solidFill>
                  <a:schemeClr val="tx1"/>
                </a:solidFill>
              </a:rPr>
              <a:t>().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· </a:t>
            </a:r>
            <a:r>
              <a:rPr lang="ru-RU" dirty="0">
                <a:solidFill>
                  <a:schemeClr val="tx1"/>
                </a:solidFill>
              </a:rPr>
              <a:t>Задача: Создать программу, которая открывает счета, проводит операции пополнения/снятия и вычисляет общий баланс банка.</a:t>
            </a:r>
          </a:p>
        </p:txBody>
      </p:sp>
    </p:spTree>
    <p:extLst>
      <p:ext uri="{BB962C8B-B14F-4D97-AF65-F5344CB8AC3E}">
        <p14:creationId xmlns:p14="http://schemas.microsoft.com/office/powerpoint/2010/main" val="3322335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BC78C-8B3D-DA18-9D5E-3AB1CA0E2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4222" y="311340"/>
            <a:ext cx="8141208" cy="1133475"/>
          </a:xfrm>
        </p:spPr>
        <p:txBody>
          <a:bodyPr>
            <a:normAutofit/>
          </a:bodyPr>
          <a:lstStyle/>
          <a:p>
            <a:r>
              <a:rPr lang="ru-RU" sz="4800" dirty="0"/>
              <a:t>Распределение ролей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53057E-7DC0-F2D5-7320-140A4CFDD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026" y="2496313"/>
            <a:ext cx="10515600" cy="2578607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</a:rPr>
              <a:t>1) Архитектор (</a:t>
            </a:r>
            <a:r>
              <a:rPr lang="en-US" dirty="0">
                <a:solidFill>
                  <a:schemeClr val="tx1"/>
                </a:solidFill>
              </a:rPr>
              <a:t>Team Lead): </a:t>
            </a:r>
            <a:r>
              <a:rPr lang="ru-RU" dirty="0">
                <a:solidFill>
                  <a:schemeClr val="tx1"/>
                </a:solidFill>
              </a:rPr>
              <a:t>Корнеев Григорий</a:t>
            </a:r>
          </a:p>
          <a:p>
            <a:r>
              <a:rPr lang="ru-RU" dirty="0">
                <a:solidFill>
                  <a:schemeClr val="tx1"/>
                </a:solidFill>
              </a:rPr>
              <a:t>2) Разработчик 1 (</a:t>
            </a:r>
            <a:r>
              <a:rPr lang="en-US" dirty="0">
                <a:solidFill>
                  <a:schemeClr val="tx1"/>
                </a:solidFill>
              </a:rPr>
              <a:t>Developer 1): </a:t>
            </a:r>
            <a:r>
              <a:rPr lang="ru-RU" dirty="0" err="1">
                <a:solidFill>
                  <a:schemeClr val="tx1"/>
                </a:solidFill>
              </a:rPr>
              <a:t>Шебордаев</a:t>
            </a:r>
            <a:r>
              <a:rPr lang="ru-RU" dirty="0">
                <a:solidFill>
                  <a:schemeClr val="tx1"/>
                </a:solidFill>
              </a:rPr>
              <a:t> Андрей</a:t>
            </a:r>
          </a:p>
          <a:p>
            <a:r>
              <a:rPr lang="ru-RU" dirty="0">
                <a:solidFill>
                  <a:schemeClr val="tx1"/>
                </a:solidFill>
              </a:rPr>
              <a:t>3) Разработчик 2 (</a:t>
            </a:r>
            <a:r>
              <a:rPr lang="en-US" dirty="0">
                <a:solidFill>
                  <a:schemeClr val="tx1"/>
                </a:solidFill>
              </a:rPr>
              <a:t>Developer 2): </a:t>
            </a:r>
            <a:r>
              <a:rPr lang="ru-RU" dirty="0">
                <a:solidFill>
                  <a:schemeClr val="tx1"/>
                </a:solidFill>
              </a:rPr>
              <a:t>Олейник Владимир</a:t>
            </a:r>
          </a:p>
          <a:p>
            <a:r>
              <a:rPr lang="ru-RU" dirty="0">
                <a:solidFill>
                  <a:schemeClr val="tx1"/>
                </a:solidFill>
              </a:rPr>
              <a:t>4) Тестировщик (</a:t>
            </a:r>
            <a:r>
              <a:rPr lang="en-US" dirty="0">
                <a:solidFill>
                  <a:schemeClr val="tx1"/>
                </a:solidFill>
              </a:rPr>
              <a:t>QA Engineer): </a:t>
            </a:r>
            <a:r>
              <a:rPr lang="ru-RU" dirty="0">
                <a:solidFill>
                  <a:schemeClr val="tx1"/>
                </a:solidFill>
              </a:rPr>
              <a:t>Бутузов Роман, Стеганцева Ксения</a:t>
            </a:r>
          </a:p>
          <a:p>
            <a:r>
              <a:rPr lang="ru-RU" dirty="0">
                <a:solidFill>
                  <a:schemeClr val="tx1"/>
                </a:solidFill>
              </a:rPr>
              <a:t>5) Технический писатель (</a:t>
            </a:r>
            <a:r>
              <a:rPr lang="en-US" dirty="0">
                <a:solidFill>
                  <a:schemeClr val="tx1"/>
                </a:solidFill>
              </a:rPr>
              <a:t>Tech Writer): </a:t>
            </a:r>
            <a:r>
              <a:rPr lang="ru-RU" dirty="0">
                <a:solidFill>
                  <a:schemeClr val="tx1"/>
                </a:solidFill>
              </a:rPr>
              <a:t>Лимаренко Дарья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2898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C27525-F2D0-C79A-5646-5272A2FA8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0431" y="969454"/>
            <a:ext cx="4544822" cy="1572387"/>
          </a:xfrm>
        </p:spPr>
        <p:txBody>
          <a:bodyPr>
            <a:noAutofit/>
          </a:bodyPr>
          <a:lstStyle/>
          <a:p>
            <a:pPr algn="ctr"/>
            <a:r>
              <a:rPr lang="ru-RU" sz="3600" dirty="0"/>
              <a:t>Репозиторий на </a:t>
            </a:r>
            <a:r>
              <a:rPr lang="en-US" sz="3600" dirty="0"/>
              <a:t>GitHub</a:t>
            </a:r>
            <a:br>
              <a:rPr lang="ru-RU" sz="2800" dirty="0"/>
            </a:br>
            <a:endParaRPr lang="ru-RU" sz="28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4DA1EB-AAF3-9EC7-1700-78DD8BD62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7335" y="5074283"/>
            <a:ext cx="3740150" cy="1500187"/>
          </a:xfrm>
        </p:spPr>
        <p:txBody>
          <a:bodyPr>
            <a:normAutofit/>
          </a:bodyPr>
          <a:lstStyle/>
          <a:p>
            <a:pPr algn="ctr"/>
            <a:endParaRPr lang="ru-RU" sz="3600" dirty="0">
              <a:solidFill>
                <a:schemeClr val="tx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D77A6C-CD55-9ECF-7C38-5FD8FA760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73684" cy="351129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54A35B5-9030-CC67-AD1F-04E28A48F8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162" y="2852225"/>
            <a:ext cx="6879838" cy="400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070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EF5C82-0C52-E858-0BEF-946940DE9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2B8A8D-97FB-65D9-2A67-99EC98FE2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752" y="5980689"/>
            <a:ext cx="10515600" cy="60325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Архитектура проекта        </a:t>
            </a:r>
            <a:r>
              <a:rPr lang="en-US" dirty="0">
                <a:solidFill>
                  <a:schemeClr val="tx1"/>
                </a:solidFill>
              </a:rPr>
              <a:t>        </a:t>
            </a:r>
            <a:r>
              <a:rPr lang="en-US" dirty="0" err="1">
                <a:solidFill>
                  <a:schemeClr val="tx1"/>
                </a:solidFill>
              </a:rPr>
              <a:t>Bank.h</a:t>
            </a:r>
            <a:r>
              <a:rPr lang="en-US" dirty="0">
                <a:solidFill>
                  <a:schemeClr val="tx1"/>
                </a:solidFill>
              </a:rPr>
              <a:t>                             </a:t>
            </a:r>
            <a:r>
              <a:rPr lang="en-US" dirty="0" err="1">
                <a:solidFill>
                  <a:schemeClr val="tx1"/>
                </a:solidFill>
              </a:rPr>
              <a:t>BankAccount.h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C701E50-8D3E-E520-2DB5-194DEC44B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799" y="699003"/>
            <a:ext cx="2874249" cy="4874201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2FA156D-5C5F-E16A-7AF5-11BF37AFB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5987" y="1237515"/>
            <a:ext cx="3327230" cy="3797175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8B54E73-DEA2-6723-AD2C-C125905F3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6156" y="634744"/>
            <a:ext cx="4170765" cy="500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202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FF55FA-8E96-44B8-9C51-3307B2D8D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7A196E-8089-9C4D-64D2-97141EEA3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594014"/>
            <a:ext cx="10515600" cy="80608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         Bank.cpp                                           BankAccount.cpp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5" name="Рисунок 4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515DE16-3CB9-7EF5-2CDC-2E9F4B5F0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905" y="860945"/>
            <a:ext cx="2978735" cy="4386301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программное обеспечение, Операционная систе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25CBE09-333A-2D31-FE20-7452D409D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443" y="751214"/>
            <a:ext cx="3666670" cy="4605757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57E1209-BE41-E501-A18E-7AE6ACC5A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4765" y="958299"/>
            <a:ext cx="3993019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132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05500E-6146-F9E5-95B1-158840D7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8313" y="46355"/>
            <a:ext cx="6675374" cy="721995"/>
          </a:xfrm>
        </p:spPr>
        <p:txBody>
          <a:bodyPr>
            <a:normAutofit/>
          </a:bodyPr>
          <a:lstStyle/>
          <a:p>
            <a:r>
              <a:rPr lang="ru-RU" sz="3600" dirty="0"/>
              <a:t>Работа тестировщиков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9ACFCF-065D-2101-6A15-C8B495ADF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75246" y="3287066"/>
            <a:ext cx="4516882" cy="4580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test.cpp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C30EEB3-06D4-A555-A9C4-1B3DC542F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678539"/>
            <a:ext cx="5788152" cy="613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805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71E844-52C2-0046-63A8-D367097B8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2674" y="0"/>
            <a:ext cx="7653782" cy="868299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Работа тестировщиков 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D9ED4E-63B7-3E87-5340-A31CA6153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73768" y="6360511"/>
            <a:ext cx="4590542" cy="67846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README.md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C88EDF0-F25C-DBC4-E15A-31D176084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0579" y="868299"/>
            <a:ext cx="4564053" cy="588560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717C1E-4E26-617E-7CCE-E53B4AB4B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372" y="868299"/>
            <a:ext cx="6795668" cy="530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605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B3EB74-3FEA-9AE5-17B5-1B1A93674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93532"/>
            <a:ext cx="5141742" cy="2367915"/>
          </a:xfrm>
        </p:spPr>
        <p:txBody>
          <a:bodyPr>
            <a:normAutofit/>
          </a:bodyPr>
          <a:lstStyle/>
          <a:p>
            <a:r>
              <a:rPr lang="ru-RU" sz="4800" dirty="0"/>
              <a:t>Вывод программы в </a:t>
            </a:r>
            <a:r>
              <a:rPr lang="en-US" sz="4800" dirty="0"/>
              <a:t>vs code</a:t>
            </a:r>
            <a:endParaRPr lang="ru-RU" sz="48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F2AA4E-B07F-0E0B-5EA6-74DCA39B4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2F0E39A-A826-0151-B74B-7A533AB1B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615" y="417827"/>
            <a:ext cx="5476513" cy="602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338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EBCF1C-C637-6F06-640B-3D91B9D3E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890" y="146304"/>
            <a:ext cx="10515600" cy="1014603"/>
          </a:xfrm>
        </p:spPr>
        <p:txBody>
          <a:bodyPr>
            <a:normAutofit/>
          </a:bodyPr>
          <a:lstStyle/>
          <a:p>
            <a:pPr algn="ctr"/>
            <a:r>
              <a:rPr lang="ru-RU" sz="4800" dirty="0"/>
              <a:t>Диалоги с нейросетью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8A0E5F-0C5E-09DA-8817-185FC7884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DEA61AE-40C9-6DC3-121D-4904EBFEE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72" y="1160907"/>
            <a:ext cx="3842772" cy="5504688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, документ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F3F28BC-0289-8EA6-4323-846D905EC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444" y="1160907"/>
            <a:ext cx="2721190" cy="5586984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документ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69B10FA-D3F5-681B-4833-335CE1080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488" y="1160907"/>
            <a:ext cx="2635574" cy="5433529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снимок экрана, документ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6D68C06-6EA6-F895-A53B-1D3D583A96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334" y="1160907"/>
            <a:ext cx="2721190" cy="573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06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E867CD-8737-7EFC-97E4-6BCE35DF7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6888"/>
            <a:ext cx="10515600" cy="859599"/>
          </a:xfrm>
        </p:spPr>
        <p:txBody>
          <a:bodyPr>
            <a:normAutofit/>
          </a:bodyPr>
          <a:lstStyle/>
          <a:p>
            <a:pPr algn="ctr"/>
            <a:r>
              <a:rPr lang="ru-RU" sz="4800" dirty="0"/>
              <a:t>Диалоги с нейросетью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2D2CC2-4A19-C8DA-AE3C-3A5947D3A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 descr="Изображение выглядит как текст, письмо, Шрифт, бумаг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B649E9B-2284-8CA6-C10F-07AC4DB5D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734" y="1106487"/>
            <a:ext cx="4929722" cy="5394896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Шрифт, письмо, докумен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57E9A4C-F02A-1776-4236-2CAE6B528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06487"/>
            <a:ext cx="5251450" cy="539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828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619B86-65C0-2E91-7A34-453217F3D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5713" y="0"/>
            <a:ext cx="2560574" cy="1023747"/>
          </a:xfrm>
        </p:spPr>
        <p:txBody>
          <a:bodyPr>
            <a:normAutofit/>
          </a:bodyPr>
          <a:lstStyle/>
          <a:p>
            <a:r>
              <a:rPr lang="ru-RU" sz="4800" dirty="0"/>
              <a:t>вывод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2D32C1-847E-38F4-BF27-D0E0C68BF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3834" y="1023747"/>
            <a:ext cx="11293094" cy="5569077"/>
          </a:xfrm>
        </p:spPr>
        <p:txBody>
          <a:bodyPr>
            <a:noAutofit/>
          </a:bodyPr>
          <a:lstStyle/>
          <a:p>
            <a:pPr algn="just"/>
            <a:r>
              <a:rPr lang="ru-RU" sz="1800" dirty="0">
                <a:solidFill>
                  <a:schemeClr val="tx1"/>
                </a:solidFill>
              </a:rPr>
              <a:t>В ходе выполнения команда прошла полный цикл разработки консольного ООП-приложения на C++ с использованием современного инструментального стека: </a:t>
            </a:r>
            <a:r>
              <a:rPr lang="ru-RU" sz="1800" b="1" dirty="0">
                <a:solidFill>
                  <a:schemeClr val="tx1"/>
                </a:solidFill>
              </a:rPr>
              <a:t>VS Code + WSL + </a:t>
            </a:r>
            <a:r>
              <a:rPr lang="ru-RU" sz="1800" b="1" dirty="0" err="1">
                <a:solidFill>
                  <a:schemeClr val="tx1"/>
                </a:solidFill>
              </a:rPr>
              <a:t>CMake</a:t>
            </a:r>
            <a:r>
              <a:rPr lang="ru-RU" sz="1800" b="1" dirty="0">
                <a:solidFill>
                  <a:schemeClr val="tx1"/>
                </a:solidFill>
              </a:rPr>
              <a:t> + </a:t>
            </a:r>
            <a:r>
              <a:rPr lang="ru-RU" sz="1800" b="1" dirty="0" err="1">
                <a:solidFill>
                  <a:schemeClr val="tx1"/>
                </a:solidFill>
              </a:rPr>
              <a:t>Git</a:t>
            </a:r>
            <a:r>
              <a:rPr lang="ru-RU" sz="1800" dirty="0">
                <a:solidFill>
                  <a:schemeClr val="tx1"/>
                </a:solidFill>
              </a:rPr>
              <a:t>. Работа была организована в соответствии с распределением ролей, что позволило эффективно разделить ответственность и ускорить процесс разработки.</a:t>
            </a:r>
          </a:p>
          <a:p>
            <a:pPr algn="just"/>
            <a:r>
              <a:rPr lang="ru-RU" sz="1800" dirty="0">
                <a:solidFill>
                  <a:schemeClr val="tx1"/>
                </a:solidFill>
              </a:rPr>
              <a:t>На этапе организации проекта была создана корректная структура каталогов (</a:t>
            </a:r>
            <a:r>
              <a:rPr lang="ru-RU" sz="1800" dirty="0" err="1">
                <a:solidFill>
                  <a:schemeClr val="tx1"/>
                </a:solidFill>
              </a:rPr>
              <a:t>include</a:t>
            </a:r>
            <a:r>
              <a:rPr lang="ru-RU" sz="1800" dirty="0">
                <a:solidFill>
                  <a:schemeClr val="tx1"/>
                </a:solidFill>
              </a:rPr>
              <a:t>/, </a:t>
            </a:r>
            <a:r>
              <a:rPr lang="ru-RU" sz="1800" dirty="0" err="1">
                <a:solidFill>
                  <a:schemeClr val="tx1"/>
                </a:solidFill>
              </a:rPr>
              <a:t>src</a:t>
            </a:r>
            <a:r>
              <a:rPr lang="ru-RU" sz="1800" dirty="0">
                <a:solidFill>
                  <a:schemeClr val="tx1"/>
                </a:solidFill>
              </a:rPr>
              <a:t>/, main.cpp, CMakeLists.txt), настроена сборка через </a:t>
            </a:r>
            <a:r>
              <a:rPr lang="ru-RU" sz="1800" dirty="0" err="1">
                <a:solidFill>
                  <a:schemeClr val="tx1"/>
                </a:solidFill>
              </a:rPr>
              <a:t>CMake</a:t>
            </a:r>
            <a:r>
              <a:rPr lang="ru-RU" sz="1800" dirty="0">
                <a:solidFill>
                  <a:schemeClr val="tx1"/>
                </a:solidFill>
              </a:rPr>
              <a:t> и инициализирован </a:t>
            </a:r>
            <a:r>
              <a:rPr lang="ru-RU" sz="1800" dirty="0" err="1">
                <a:solidFill>
                  <a:schemeClr val="tx1"/>
                </a:solidFill>
              </a:rPr>
              <a:t>Git</a:t>
            </a:r>
            <a:r>
              <a:rPr lang="ru-RU" sz="1800" dirty="0">
                <a:solidFill>
                  <a:schemeClr val="tx1"/>
                </a:solidFill>
              </a:rPr>
              <a:t>-репозиторий с .</a:t>
            </a:r>
            <a:r>
              <a:rPr lang="ru-RU" sz="1800" dirty="0" err="1">
                <a:solidFill>
                  <a:schemeClr val="tx1"/>
                </a:solidFill>
              </a:rPr>
              <a:t>gitignore</a:t>
            </a:r>
            <a:r>
              <a:rPr lang="ru-RU" sz="1800" dirty="0">
                <a:solidFill>
                  <a:schemeClr val="tx1"/>
                </a:solidFill>
              </a:rPr>
              <a:t>. Проект успешно собирается в среде WSL без ошибок, что подтверждает правильность конфигурации.</a:t>
            </a:r>
          </a:p>
          <a:p>
            <a:pPr algn="just"/>
            <a:r>
              <a:rPr lang="ru-RU" sz="1800" dirty="0">
                <a:solidFill>
                  <a:schemeClr val="tx1"/>
                </a:solidFill>
              </a:rPr>
              <a:t>В процессе разработки были реализованы два ключевых класса согласно техническому заданию:</a:t>
            </a:r>
          </a:p>
          <a:p>
            <a:pPr algn="just"/>
            <a:r>
              <a:rPr lang="ru-RU" sz="1800" dirty="0" err="1">
                <a:solidFill>
                  <a:schemeClr val="tx1"/>
                </a:solidFill>
              </a:rPr>
              <a:t>BankAccount</a:t>
            </a:r>
            <a:r>
              <a:rPr lang="ru-RU" sz="1800" dirty="0">
                <a:solidFill>
                  <a:schemeClr val="tx1"/>
                </a:solidFill>
              </a:rPr>
              <a:t> — отвечает за хранение данных одного банковского счёта и реализацию операций пополнения и снятия средств с проверкой корректности.</a:t>
            </a:r>
          </a:p>
          <a:p>
            <a:pPr algn="just"/>
            <a:r>
              <a:rPr lang="ru-RU" sz="1800" dirty="0">
                <a:solidFill>
                  <a:schemeClr val="tx1"/>
                </a:solidFill>
              </a:rPr>
              <a:t>Bank — управляет коллекцией счетов, обеспечивает их создание, поиск и вычисление общего баланса.</a:t>
            </a:r>
          </a:p>
          <a:p>
            <a:pPr algn="just"/>
            <a:r>
              <a:rPr lang="ru-RU" sz="1800" dirty="0">
                <a:solidFill>
                  <a:schemeClr val="tx1"/>
                </a:solidFill>
              </a:rPr>
              <a:t>Код разделён на .h и .</a:t>
            </a:r>
            <a:r>
              <a:rPr lang="ru-RU" sz="1800" dirty="0" err="1">
                <a:solidFill>
                  <a:schemeClr val="tx1"/>
                </a:solidFill>
              </a:rPr>
              <a:t>cpp</a:t>
            </a:r>
            <a:r>
              <a:rPr lang="ru-RU" sz="1800" dirty="0">
                <a:solidFill>
                  <a:schemeClr val="tx1"/>
                </a:solidFill>
              </a:rPr>
              <a:t>, инкапсуляция соблюдена (поля закрыты, доступ через методы), дублирование логики отсутствует. Взаимодействие классов организовано корректно: Bank управляет объектами </a:t>
            </a:r>
            <a:r>
              <a:rPr lang="ru-RU" sz="1800" dirty="0" err="1">
                <a:solidFill>
                  <a:schemeClr val="tx1"/>
                </a:solidFill>
              </a:rPr>
              <a:t>BankAccount</a:t>
            </a:r>
            <a:r>
              <a:rPr lang="ru-RU" sz="1800" dirty="0">
                <a:solidFill>
                  <a:schemeClr val="tx1"/>
                </a:solidFill>
              </a:rPr>
              <a:t>, а тестирование проводится через main.cpp.</a:t>
            </a:r>
          </a:p>
          <a:p>
            <a:pPr algn="just"/>
            <a:r>
              <a:rPr lang="ru-RU" sz="1800" dirty="0">
                <a:solidFill>
                  <a:schemeClr val="tx1"/>
                </a:solidFill>
              </a:rPr>
              <a:t>Документация оформлена в README.md: указаны роли участников, инструкции по сборке, описание классов и методов, пример работы программы, а также зафиксированы диалоги с нейросетью и возникшие технические проблемы с их решениями.</a:t>
            </a:r>
          </a:p>
        </p:txBody>
      </p:sp>
    </p:spTree>
    <p:extLst>
      <p:ext uri="{BB962C8B-B14F-4D97-AF65-F5344CB8AC3E}">
        <p14:creationId xmlns:p14="http://schemas.microsoft.com/office/powerpoint/2010/main" val="3813399919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Градиент</Template>
  <TotalTime>143</TotalTime>
  <Words>478</Words>
  <Application>Microsoft Office PowerPoint</Application>
  <PresentationFormat>Широкоэкранный</PresentationFormat>
  <Paragraphs>35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Univers</vt:lpstr>
      <vt:lpstr>GradientVTI</vt:lpstr>
      <vt:lpstr>Семинар 1 Кейс 2: Система банковских счетов </vt:lpstr>
      <vt:lpstr>задачи</vt:lpstr>
      <vt:lpstr>Распределение ролей</vt:lpstr>
      <vt:lpstr>Репозиторий на GitHub </vt:lpstr>
      <vt:lpstr>Презентация PowerPoint</vt:lpstr>
      <vt:lpstr>Презентация PowerPoint</vt:lpstr>
      <vt:lpstr>Работа тестировщиков</vt:lpstr>
      <vt:lpstr>Работа тестировщиков </vt:lpstr>
      <vt:lpstr>Вывод программы в vs code</vt:lpstr>
      <vt:lpstr>Диалоги с нейросетью</vt:lpstr>
      <vt:lpstr>Диалоги с нейросетью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Дарья Лимаренко</dc:creator>
  <cp:lastModifiedBy>Дарья Лимаренко</cp:lastModifiedBy>
  <cp:revision>4</cp:revision>
  <dcterms:created xsi:type="dcterms:W3CDTF">2026-03-01T15:57:46Z</dcterms:created>
  <dcterms:modified xsi:type="dcterms:W3CDTF">2026-03-20T08:28:41Z</dcterms:modified>
</cp:coreProperties>
</file>
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E66DA5-7751-4D3D-B753-58DF3B418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135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365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FC2D1-D3FE-4B37-8740-57444421F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 b="1" i="0" cap="all" baseline="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5AF550-086C-426E-A374-85DB39570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58988-AD39-4AE9-8E6A-0907F0BE2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366319-82EE-408E-819F-8F8E6DBA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C8A6-777F-496D-8620-AE52BFC3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31F83B-57A8-4533-981C-D1FFAD2B6B6F}"/>
              </a:ext>
            </a:extLst>
          </p:cNvPr>
          <p:cNvCxnSpPr>
            <a:cxnSpLocks/>
          </p:cNvCxnSpPr>
          <p:nvPr/>
        </p:nvCxnSpPr>
        <p:spPr>
          <a:xfrm>
            <a:off x="715890" y="1701425"/>
            <a:ext cx="0" cy="5148262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66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D8FDCB-69DA-4A8F-8B91-5CFF7789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AC8C07-E0D3-4464-AE3C-25730D75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596A6-734E-4AE0-BFB8-3089137B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7476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B3EF2-2C04-480F-A570-14E520DD00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F5783E-3073-4F4D-8B9C-C5B18DDA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A75FE3-6719-4790-AA00-251BC2A6E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758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7481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769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3952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368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D429-654B-4F0E-94E9-6FEF8EC6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8D60B2-06F5-4567-BE1F-BBA527053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F6F2-8269-4B80-8EE3-81FEE0F9D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C86E4-3EDE-4EB4-B1A3-A1198AADD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52B0-ACEC-49EF-8131-FCF35BC5C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A0462E3-375D-4E76-8886-69E06985D069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20267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23B094-F480-477B-901C-7181F88C07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52089-A920-4E52-98DC-8A5DC7B0AC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074FE-F1B4-421F-A66E-FA351C8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D764BA-3AB2-45FD-ABCB-975B3FDDF2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B3FEF-8252-49FD-82F2-3E5FABC65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EB5C65-83BB-4EBD-AD22-EDA8489D0F5D}"/>
              </a:ext>
            </a:extLst>
          </p:cNvPr>
          <p:cNvCxnSpPr>
            <a:cxnSpLocks/>
          </p:cNvCxnSpPr>
          <p:nvPr/>
        </p:nvCxnSpPr>
        <p:spPr>
          <a:xfrm flipV="1">
            <a:off x="8313" y="261865"/>
            <a:ext cx="11353802" cy="1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9904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DBF5BC-6BDD-1D48-793F-76C7D0CFCE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040" y="885952"/>
            <a:ext cx="10789920" cy="2387600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900" dirty="0"/>
              <a:t>Семинар 1</a:t>
            </a:r>
            <a:br>
              <a:rPr lang="ru-RU" sz="4900" dirty="0"/>
            </a:br>
            <a:r>
              <a:rPr lang="ru-RU" sz="4900" dirty="0"/>
              <a:t>Кейс 2: Система банковских счетов</a:t>
            </a:r>
            <a:br>
              <a:rPr lang="ru-RU" b="0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4F2DAC-84DF-6EDF-6C98-33818DEDBA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40352" y="2825496"/>
            <a:ext cx="3511296" cy="4032504"/>
          </a:xfrm>
        </p:spPr>
        <p:txBody>
          <a:bodyPr>
            <a:normAutofit/>
          </a:bodyPr>
          <a:lstStyle/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Группа ИУ5-24Б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Бутузов Роман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Корнеев Григорий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Лимаренко Дарья 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Олейник Владимир </a:t>
            </a:r>
          </a:p>
          <a:p>
            <a:pPr algn="ctr"/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Стеганцева Ксения</a:t>
            </a:r>
          </a:p>
          <a:p>
            <a:pPr algn="ctr"/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Шебордаев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Андрей</a:t>
            </a:r>
          </a:p>
        </p:txBody>
      </p:sp>
    </p:spTree>
    <p:extLst>
      <p:ext uri="{BB962C8B-B14F-4D97-AF65-F5344CB8AC3E}">
        <p14:creationId xmlns:p14="http://schemas.microsoft.com/office/powerpoint/2010/main" val="4251492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DBB5E6-8BB7-0484-EC8B-ABB0DE4B6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981" y="338328"/>
            <a:ext cx="2844038" cy="941451"/>
          </a:xfrm>
        </p:spPr>
        <p:txBody>
          <a:bodyPr>
            <a:normAutofit/>
          </a:bodyPr>
          <a:lstStyle/>
          <a:p>
            <a:r>
              <a:rPr lang="ru-RU" sz="4800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CFA20B-FFCB-79A5-0CD1-7EC2F75FC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9056" y="1571943"/>
            <a:ext cx="11478768" cy="4618545"/>
          </a:xfrm>
        </p:spPr>
        <p:txBody>
          <a:bodyPr>
            <a:normAutofit lnSpcReduction="10000"/>
          </a:bodyPr>
          <a:lstStyle/>
          <a:p>
            <a:r>
              <a:rPr lang="ru-RU" b="1" dirty="0">
                <a:solidFill>
                  <a:schemeClr val="tx1"/>
                </a:solidFill>
              </a:rPr>
              <a:t>Цель: </a:t>
            </a:r>
            <a:r>
              <a:rPr lang="ru-RU" dirty="0">
                <a:solidFill>
                  <a:schemeClr val="tx1"/>
                </a:solidFill>
              </a:rPr>
              <a:t>разработать консольное ООП-приложение на C++, используя современный стек инструментов (VS Code + WSL2 + </a:t>
            </a:r>
            <a:r>
              <a:rPr lang="ru-RU" dirty="0" err="1">
                <a:solidFill>
                  <a:schemeClr val="tx1"/>
                </a:solidFill>
              </a:rPr>
              <a:t>CMake</a:t>
            </a:r>
            <a:r>
              <a:rPr lang="ru-RU" dirty="0">
                <a:solidFill>
                  <a:schemeClr val="tx1"/>
                </a:solidFill>
              </a:rPr>
              <a:t> + </a:t>
            </a:r>
            <a:r>
              <a:rPr lang="ru-RU" dirty="0" err="1">
                <a:solidFill>
                  <a:schemeClr val="tx1"/>
                </a:solidFill>
              </a:rPr>
              <a:t>Git</a:t>
            </a:r>
            <a:r>
              <a:rPr lang="ru-RU" dirty="0">
                <a:solidFill>
                  <a:schemeClr val="tx1"/>
                </a:solidFill>
              </a:rPr>
              <a:t>) и распределение ролей.</a:t>
            </a:r>
          </a:p>
          <a:p>
            <a:r>
              <a:rPr lang="ru-RU" b="1" dirty="0">
                <a:solidFill>
                  <a:schemeClr val="tx1"/>
                </a:solidFill>
              </a:rPr>
              <a:t>Кейс 2: </a:t>
            </a:r>
            <a:r>
              <a:rPr lang="ru-RU" dirty="0">
                <a:solidFill>
                  <a:schemeClr val="tx1"/>
                </a:solidFill>
              </a:rPr>
              <a:t>Система банковских счетов</a:t>
            </a:r>
            <a:br>
              <a:rPr lang="ru-RU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Класс 1: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Поля: </a:t>
            </a:r>
            <a:r>
              <a:rPr lang="en-US" dirty="0" err="1">
                <a:solidFill>
                  <a:schemeClr val="tx1"/>
                </a:solidFill>
              </a:rPr>
              <a:t>accountNumber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строка), </a:t>
            </a:r>
            <a:r>
              <a:rPr lang="en-US" dirty="0" err="1">
                <a:solidFill>
                  <a:schemeClr val="tx1"/>
                </a:solidFill>
              </a:rPr>
              <a:t>ownerName</a:t>
            </a:r>
            <a:r>
              <a:rPr lang="en-US" dirty="0">
                <a:solidFill>
                  <a:schemeClr val="tx1"/>
                </a:solidFill>
              </a:rPr>
              <a:t> (</a:t>
            </a:r>
            <a:r>
              <a:rPr lang="ru-RU" dirty="0">
                <a:solidFill>
                  <a:schemeClr val="tx1"/>
                </a:solidFill>
              </a:rPr>
              <a:t>строка), </a:t>
            </a:r>
            <a:r>
              <a:rPr lang="en-US" dirty="0">
                <a:solidFill>
                  <a:schemeClr val="tx1"/>
                </a:solidFill>
              </a:rPr>
              <a:t>balance (double).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Методы: конструкторы, </a:t>
            </a:r>
            <a:r>
              <a:rPr lang="en-US" dirty="0">
                <a:solidFill>
                  <a:schemeClr val="tx1"/>
                </a:solidFill>
              </a:rPr>
              <a:t>deposit(double amount), withdraw(double amount), </a:t>
            </a:r>
            <a:r>
              <a:rPr lang="en-US" dirty="0" err="1">
                <a:solidFill>
                  <a:schemeClr val="tx1"/>
                </a:solidFill>
              </a:rPr>
              <a:t>getBalance</a:t>
            </a:r>
            <a:r>
              <a:rPr lang="en-US" dirty="0">
                <a:solidFill>
                  <a:schemeClr val="tx1"/>
                </a:solidFill>
              </a:rPr>
              <a:t>(), </a:t>
            </a:r>
            <a:r>
              <a:rPr lang="en-US" dirty="0" err="1">
                <a:solidFill>
                  <a:schemeClr val="tx1"/>
                </a:solidFill>
              </a:rPr>
              <a:t>printStatement</a:t>
            </a:r>
            <a:r>
              <a:rPr lang="en-US" dirty="0">
                <a:solidFill>
                  <a:schemeClr val="tx1"/>
                </a:solidFill>
              </a:rPr>
              <a:t>().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ru-RU" b="1" dirty="0">
                <a:solidFill>
                  <a:schemeClr val="tx1"/>
                </a:solidFill>
              </a:rPr>
              <a:t>Класс 2: </a:t>
            </a:r>
            <a:r>
              <a:rPr lang="en-US" dirty="0">
                <a:solidFill>
                  <a:schemeClr val="tx1"/>
                </a:solidFill>
              </a:rPr>
              <a:t>Bank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Поля: массив или вектор объектов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r>
              <a:rPr lang="en-US" dirty="0">
                <a:solidFill>
                  <a:schemeClr val="tx1"/>
                </a:solidFill>
              </a:rPr>
              <a:t>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  · </a:t>
            </a:r>
            <a:r>
              <a:rPr lang="ru-RU" dirty="0">
                <a:solidFill>
                  <a:schemeClr val="tx1"/>
                </a:solidFill>
              </a:rPr>
              <a:t>Методы: </a:t>
            </a:r>
            <a:r>
              <a:rPr lang="en-US" dirty="0" err="1">
                <a:solidFill>
                  <a:schemeClr val="tx1"/>
                </a:solidFill>
              </a:rPr>
              <a:t>createAccount</a:t>
            </a:r>
            <a:r>
              <a:rPr lang="en-US" dirty="0">
                <a:solidFill>
                  <a:schemeClr val="tx1"/>
                </a:solidFill>
              </a:rPr>
              <a:t>(const string&amp; owner), </a:t>
            </a:r>
            <a:r>
              <a:rPr lang="en-US" dirty="0" err="1">
                <a:solidFill>
                  <a:schemeClr val="tx1"/>
                </a:solidFill>
              </a:rPr>
              <a:t>getAccount</a:t>
            </a:r>
            <a:r>
              <a:rPr lang="en-US" dirty="0">
                <a:solidFill>
                  <a:schemeClr val="tx1"/>
                </a:solidFill>
              </a:rPr>
              <a:t>(const string&amp; </a:t>
            </a:r>
            <a:r>
              <a:rPr lang="en-US" dirty="0" err="1">
                <a:solidFill>
                  <a:schemeClr val="tx1"/>
                </a:solidFill>
              </a:rPr>
              <a:t>accNum</a:t>
            </a:r>
            <a:r>
              <a:rPr lang="en-US" dirty="0">
                <a:solidFill>
                  <a:schemeClr val="tx1"/>
                </a:solidFill>
              </a:rPr>
              <a:t>) -&gt; </a:t>
            </a:r>
            <a:r>
              <a:rPr lang="en-US" dirty="0" err="1">
                <a:solidFill>
                  <a:schemeClr val="tx1"/>
                </a:solidFill>
              </a:rPr>
              <a:t>BankAccount</a:t>
            </a:r>
            <a:r>
              <a:rPr lang="en-US" dirty="0">
                <a:solidFill>
                  <a:schemeClr val="tx1"/>
                </a:solidFill>
              </a:rPr>
              <a:t>*, </a:t>
            </a:r>
            <a:r>
              <a:rPr lang="en-US" dirty="0" err="1">
                <a:solidFill>
                  <a:schemeClr val="tx1"/>
                </a:solidFill>
              </a:rPr>
              <a:t>totalBankBalance</a:t>
            </a:r>
            <a:r>
              <a:rPr lang="en-US" dirty="0">
                <a:solidFill>
                  <a:schemeClr val="tx1"/>
                </a:solidFill>
              </a:rPr>
              <a:t>().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· </a:t>
            </a:r>
            <a:r>
              <a:rPr lang="ru-RU" dirty="0">
                <a:solidFill>
                  <a:schemeClr val="tx1"/>
                </a:solidFill>
              </a:rPr>
              <a:t>Задача: Создать программу, которая открывает счета, проводит операции пополнения/снятия и вычисляет общий баланс банка.</a:t>
            </a:r>
          </a:p>
        </p:txBody>
      </p:sp>
    </p:spTree>
    <p:extLst>
      <p:ext uri="{BB962C8B-B14F-4D97-AF65-F5344CB8AC3E}">
        <p14:creationId xmlns:p14="http://schemas.microsoft.com/office/powerpoint/2010/main" val="3322335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BC78C-8B3D-DA18-9D5E-3AB1CA0E2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4222" y="311340"/>
            <a:ext cx="8141208" cy="1133475"/>
          </a:xfrm>
        </p:spPr>
        <p:txBody>
          <a:bodyPr>
            <a:normAutofit/>
          </a:bodyPr>
          <a:lstStyle/>
          <a:p>
            <a:r>
              <a:rPr lang="ru-RU" sz="4800" dirty="0"/>
              <a:t>Распределение ролей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D53057E-7DC0-F2D5-7320-140A4CFDD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026" y="2496313"/>
            <a:ext cx="10515600" cy="257860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1) Архитектор (</a:t>
            </a:r>
            <a:r>
              <a:rPr lang="en-US" dirty="0">
                <a:solidFill>
                  <a:schemeClr val="tx1"/>
                </a:solidFill>
              </a:rPr>
              <a:t>Team Lead): </a:t>
            </a:r>
            <a:r>
              <a:rPr lang="ru-RU" dirty="0">
                <a:solidFill>
                  <a:schemeClr val="tx1"/>
                </a:solidFill>
              </a:rPr>
              <a:t>Корнеев Григорий</a:t>
            </a:r>
          </a:p>
          <a:p>
            <a:r>
              <a:rPr lang="ru-RU" dirty="0">
                <a:solidFill>
                  <a:schemeClr val="tx1"/>
                </a:solidFill>
              </a:rPr>
              <a:t>2) Разработчик 1 (</a:t>
            </a:r>
            <a:r>
              <a:rPr lang="en-US" dirty="0">
                <a:solidFill>
                  <a:schemeClr val="tx1"/>
                </a:solidFill>
              </a:rPr>
              <a:t>Developer 1): </a:t>
            </a:r>
            <a:r>
              <a:rPr lang="ru-RU" dirty="0" err="1">
                <a:solidFill>
                  <a:schemeClr val="tx1"/>
                </a:solidFill>
              </a:rPr>
              <a:t>Шебордаев</a:t>
            </a:r>
            <a:r>
              <a:rPr lang="ru-RU" dirty="0">
                <a:solidFill>
                  <a:schemeClr val="tx1"/>
                </a:solidFill>
              </a:rPr>
              <a:t> Андрей</a:t>
            </a:r>
          </a:p>
          <a:p>
            <a:r>
              <a:rPr lang="ru-RU" dirty="0">
                <a:solidFill>
                  <a:schemeClr val="tx1"/>
                </a:solidFill>
              </a:rPr>
              <a:t>3) Разработчик 2 (</a:t>
            </a:r>
            <a:r>
              <a:rPr lang="en-US" dirty="0">
                <a:solidFill>
                  <a:schemeClr val="tx1"/>
                </a:solidFill>
              </a:rPr>
              <a:t>Developer 2): </a:t>
            </a:r>
            <a:r>
              <a:rPr lang="ru-RU" dirty="0">
                <a:solidFill>
                  <a:schemeClr val="tx1"/>
                </a:solidFill>
              </a:rPr>
              <a:t>Олейник Владимир</a:t>
            </a:r>
          </a:p>
          <a:p>
            <a:r>
              <a:rPr lang="ru-RU" dirty="0">
                <a:solidFill>
                  <a:schemeClr val="tx1"/>
                </a:solidFill>
              </a:rPr>
              <a:t>4) Тестировщик (</a:t>
            </a:r>
            <a:r>
              <a:rPr lang="en-US" dirty="0">
                <a:solidFill>
                  <a:schemeClr val="tx1"/>
                </a:solidFill>
              </a:rPr>
              <a:t>QA Engineer): </a:t>
            </a:r>
            <a:r>
              <a:rPr lang="ru-RU" dirty="0">
                <a:solidFill>
                  <a:schemeClr val="tx1"/>
                </a:solidFill>
              </a:rPr>
              <a:t>Бутузов Роман, Стеганцева Ксения</a:t>
            </a:r>
          </a:p>
          <a:p>
            <a:r>
              <a:rPr lang="ru-RU" dirty="0">
                <a:solidFill>
                  <a:schemeClr val="tx1"/>
                </a:solidFill>
              </a:rPr>
              <a:t>5) Технический писатель (</a:t>
            </a:r>
            <a:r>
              <a:rPr lang="en-US" dirty="0">
                <a:solidFill>
                  <a:schemeClr val="tx1"/>
                </a:solidFill>
              </a:rPr>
              <a:t>Tech Writer): </a:t>
            </a:r>
            <a:r>
              <a:rPr lang="ru-RU" dirty="0">
                <a:solidFill>
                  <a:schemeClr val="tx1"/>
                </a:solidFill>
              </a:rPr>
              <a:t>Лимаренко Дарья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82898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C27525-F2D0-C79A-5646-5272A2FA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0431" y="969454"/>
            <a:ext cx="4544822" cy="1572387"/>
          </a:xfrm>
        </p:spPr>
        <p:txBody>
          <a:bodyPr>
            <a:noAutofit/>
          </a:bodyPr>
          <a:lstStyle/>
          <a:p>
            <a:pPr algn="ctr"/>
            <a:r>
              <a:rPr lang="ru-RU" sz="3600" dirty="0"/>
              <a:t>Репозиторий на </a:t>
            </a:r>
            <a:r>
              <a:rPr lang="en-US" sz="3600" dirty="0"/>
              <a:t>GitHub</a:t>
            </a:r>
            <a:br>
              <a:rPr lang="ru-RU" sz="2800" dirty="0"/>
            </a:br>
            <a:endParaRPr lang="ru-RU" sz="2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74DA1EB-AAF3-9EC7-1700-78DD8BD62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7335" y="5074283"/>
            <a:ext cx="3740150" cy="1500187"/>
          </a:xfrm>
        </p:spPr>
        <p:txBody>
          <a:bodyPr>
            <a:normAutofit/>
          </a:bodyPr>
          <a:lstStyle/>
          <a:p>
            <a:pPr algn="ctr"/>
            <a:endParaRPr lang="ru-RU" sz="3600" dirty="0">
              <a:solidFill>
                <a:schemeClr val="tx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D77A6C-CD55-9ECF-7C38-5FD8FA760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273684" cy="351129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4A35B5-9030-CC67-AD1F-04E28A48F8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162" y="2852225"/>
            <a:ext cx="6879838" cy="400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700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EF5C82-0C52-E858-0BEF-946940DE9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E2B8A8D-97FB-65D9-2A67-99EC98FE2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752" y="5980689"/>
            <a:ext cx="10515600" cy="60325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ru-RU" dirty="0">
                <a:solidFill>
                  <a:schemeClr val="tx1"/>
                </a:solidFill>
              </a:rPr>
              <a:t>Архитектура проекта        </a:t>
            </a:r>
            <a:r>
              <a:rPr lang="en-US" dirty="0">
                <a:solidFill>
                  <a:schemeClr val="tx1"/>
                </a:solidFill>
              </a:rPr>
              <a:t>        </a:t>
            </a:r>
            <a:r>
              <a:rPr lang="en-US" dirty="0" err="1">
                <a:solidFill>
                  <a:schemeClr val="tx1"/>
                </a:solidFill>
              </a:rPr>
              <a:t>Bank.h</a:t>
            </a:r>
            <a:r>
              <a:rPr lang="en-US" dirty="0">
                <a:solidFill>
                  <a:schemeClr val="tx1"/>
                </a:solidFill>
              </a:rPr>
              <a:t>                             </a:t>
            </a:r>
            <a:r>
              <a:rPr lang="en-US" dirty="0" err="1">
                <a:solidFill>
                  <a:schemeClr val="tx1"/>
                </a:solidFill>
              </a:rPr>
              <a:t>BankAccount.h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C701E50-8D3E-E520-2DB5-194DEC44B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799" y="699003"/>
            <a:ext cx="2874249" cy="487420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FA156D-5C5F-E16A-7AF5-11BF37AF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987" y="1237515"/>
            <a:ext cx="3327230" cy="3797175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B54E73-DEA2-6723-AD2C-C125905F3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6156" y="634744"/>
            <a:ext cx="4170765" cy="500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0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F55FA-8E96-44B8-9C51-3307B2D8D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D7A196E-8089-9C4D-64D2-97141EEA3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5594014"/>
            <a:ext cx="10515600" cy="806082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         Bank.cpp                                           BankAccount.cpp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 descr="Изображение выглядит как текст, снимок экрана, программное обеспечение, диспле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15DE16-3CB9-7EF5-2CDC-2E9F4B5F0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905" y="860945"/>
            <a:ext cx="2978735" cy="4386301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25CBE09-333A-2D31-FE20-7452D409D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9443" y="751214"/>
            <a:ext cx="3666670" cy="4605757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57E1209-BE41-E501-A18E-7AE6ACC5A0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765" y="958299"/>
            <a:ext cx="3993019" cy="419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132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B3EB74-3FEA-9AE5-17B5-1B1A9367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093532"/>
            <a:ext cx="5141742" cy="2367915"/>
          </a:xfrm>
        </p:spPr>
        <p:txBody>
          <a:bodyPr>
            <a:normAutofit/>
          </a:bodyPr>
          <a:lstStyle/>
          <a:p>
            <a:r>
              <a:rPr lang="ru-RU" sz="4800" dirty="0"/>
              <a:t>Вывод программы в </a:t>
            </a:r>
            <a:r>
              <a:rPr lang="en-US" sz="4800" dirty="0"/>
              <a:t>vs code</a:t>
            </a:r>
            <a:endParaRPr lang="ru-RU" sz="480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F2AA4E-B07F-0E0B-5EA6-74DCA39B4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2F0E39A-A826-0151-B74B-7A533AB1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615" y="417827"/>
            <a:ext cx="5476513" cy="602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38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BCF1C-C637-6F06-640B-3D91B9D3E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890" y="146304"/>
            <a:ext cx="10515600" cy="1014603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Диалоги с нейросетью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38A0E5F-0C5E-09DA-8817-185FC78848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DEA61AE-40C9-6DC3-121D-4904EBFEE0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72" y="1160907"/>
            <a:ext cx="3842772" cy="5504688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F3F28BC-0289-8EA6-4323-846D905EC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79444" y="1160907"/>
            <a:ext cx="2721190" cy="5586984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69B10FA-D3F5-681B-4833-335CE1080E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488" y="1160907"/>
            <a:ext cx="2635574" cy="5433529"/>
          </a:xfrm>
          <a:prstGeom prst="rect">
            <a:avLst/>
          </a:prstGeom>
        </p:spPr>
      </p:pic>
      <p:pic>
        <p:nvPicPr>
          <p:cNvPr id="12" name="Рисунок 11" descr="Изображение выглядит как текст, снимок экрана, докумен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6D68C06-6EA6-F895-A53B-1D3D583A96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98334" y="1160907"/>
            <a:ext cx="2721190" cy="5737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066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E867CD-8737-7EFC-97E4-6BCE35DF7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6888"/>
            <a:ext cx="10515600" cy="859599"/>
          </a:xfrm>
        </p:spPr>
        <p:txBody>
          <a:bodyPr>
            <a:normAutofit/>
          </a:bodyPr>
          <a:lstStyle/>
          <a:p>
            <a:pPr algn="ctr"/>
            <a:r>
              <a:rPr lang="ru-RU" sz="4800" dirty="0"/>
              <a:t>Диалоги с нейросетью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D2CC2-4A19-C8DA-AE3C-3A5947D3A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5" name="Рисунок 4" descr="Изображение выглядит как текст, письмо, Шрифт, бумаг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B649E9B-2284-8CA6-C10F-07AC4DB5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34" y="1106487"/>
            <a:ext cx="4929722" cy="5394896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письмо, докумен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57E9A4C-F02A-1776-4236-2CAE6B528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06487"/>
            <a:ext cx="5251450" cy="539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8289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19B86-65C0-2E91-7A34-453217F3D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5713" y="0"/>
            <a:ext cx="2560574" cy="1023747"/>
          </a:xfrm>
        </p:spPr>
        <p:txBody>
          <a:bodyPr>
            <a:normAutofit/>
          </a:bodyPr>
          <a:lstStyle/>
          <a:p>
            <a:r>
              <a:rPr lang="ru-RU" sz="4800" dirty="0"/>
              <a:t>вывод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2D32C1-847E-38F4-BF27-D0E0C68BF7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3834" y="1023747"/>
            <a:ext cx="11293094" cy="5569077"/>
          </a:xfrm>
        </p:spPr>
        <p:txBody>
          <a:bodyPr>
            <a:noAutofit/>
          </a:bodyPr>
          <a:lstStyle/>
          <a:p>
            <a:pPr algn="just"/>
            <a:r>
              <a:rPr lang="ru-RU" sz="1800" dirty="0">
                <a:solidFill>
                  <a:schemeClr val="tx1"/>
                </a:solidFill>
              </a:rPr>
              <a:t>В ходе выполнения команда прошла полный цикл разработки консольного ООП-приложения на C++ с использованием современного инструментального стека: </a:t>
            </a:r>
            <a:r>
              <a:rPr lang="ru-RU" sz="1800" b="1" dirty="0">
                <a:solidFill>
                  <a:schemeClr val="tx1"/>
                </a:solidFill>
              </a:rPr>
              <a:t>VS Code + WSL + </a:t>
            </a:r>
            <a:r>
              <a:rPr lang="ru-RU" sz="1800" b="1" dirty="0" err="1">
                <a:solidFill>
                  <a:schemeClr val="tx1"/>
                </a:solidFill>
              </a:rPr>
              <a:t>CMake</a:t>
            </a:r>
            <a:r>
              <a:rPr lang="ru-RU" sz="1800" b="1" dirty="0">
                <a:solidFill>
                  <a:schemeClr val="tx1"/>
                </a:solidFill>
              </a:rPr>
              <a:t> + </a:t>
            </a:r>
            <a:r>
              <a:rPr lang="ru-RU" sz="1800" b="1" dirty="0" err="1">
                <a:solidFill>
                  <a:schemeClr val="tx1"/>
                </a:solidFill>
              </a:rPr>
              <a:t>Git</a:t>
            </a:r>
            <a:r>
              <a:rPr lang="ru-RU" sz="1800" dirty="0">
                <a:solidFill>
                  <a:schemeClr val="tx1"/>
                </a:solidFill>
              </a:rPr>
              <a:t>. Работа была организована в соответствии с распределением ролей, что позволило эффективно разделить ответственность и ускорить процесс разработки.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На этапе организации проекта была создана корректная структура каталогов (</a:t>
            </a:r>
            <a:r>
              <a:rPr lang="ru-RU" sz="1800" dirty="0" err="1">
                <a:solidFill>
                  <a:schemeClr val="tx1"/>
                </a:solidFill>
              </a:rPr>
              <a:t>include</a:t>
            </a:r>
            <a:r>
              <a:rPr lang="ru-RU" sz="1800" dirty="0">
                <a:solidFill>
                  <a:schemeClr val="tx1"/>
                </a:solidFill>
              </a:rPr>
              <a:t>/, </a:t>
            </a:r>
            <a:r>
              <a:rPr lang="ru-RU" sz="1800" dirty="0" err="1">
                <a:solidFill>
                  <a:schemeClr val="tx1"/>
                </a:solidFill>
              </a:rPr>
              <a:t>src</a:t>
            </a:r>
            <a:r>
              <a:rPr lang="ru-RU" sz="1800" dirty="0">
                <a:solidFill>
                  <a:schemeClr val="tx1"/>
                </a:solidFill>
              </a:rPr>
              <a:t>/, main.cpp, CMakeLists.txt), настроена сборка через </a:t>
            </a:r>
            <a:r>
              <a:rPr lang="ru-RU" sz="1800" dirty="0" err="1">
                <a:solidFill>
                  <a:schemeClr val="tx1"/>
                </a:solidFill>
              </a:rPr>
              <a:t>CMake</a:t>
            </a:r>
            <a:r>
              <a:rPr lang="ru-RU" sz="1800" dirty="0">
                <a:solidFill>
                  <a:schemeClr val="tx1"/>
                </a:solidFill>
              </a:rPr>
              <a:t> и инициализирован </a:t>
            </a:r>
            <a:r>
              <a:rPr lang="ru-RU" sz="1800" dirty="0" err="1">
                <a:solidFill>
                  <a:schemeClr val="tx1"/>
                </a:solidFill>
              </a:rPr>
              <a:t>Git</a:t>
            </a:r>
            <a:r>
              <a:rPr lang="ru-RU" sz="1800" dirty="0">
                <a:solidFill>
                  <a:schemeClr val="tx1"/>
                </a:solidFill>
              </a:rPr>
              <a:t>-репозиторий с .</a:t>
            </a:r>
            <a:r>
              <a:rPr lang="ru-RU" sz="1800" dirty="0" err="1">
                <a:solidFill>
                  <a:schemeClr val="tx1"/>
                </a:solidFill>
              </a:rPr>
              <a:t>gitignore</a:t>
            </a:r>
            <a:r>
              <a:rPr lang="ru-RU" sz="1800" dirty="0">
                <a:solidFill>
                  <a:schemeClr val="tx1"/>
                </a:solidFill>
              </a:rPr>
              <a:t>. Проект успешно собирается в среде WSL без ошибок, что подтверждает правильность конфигурации.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В процессе разработки были реализованы два ключевых класса согласно техническому заданию:</a:t>
            </a:r>
          </a:p>
          <a:p>
            <a:pPr algn="just"/>
            <a:r>
              <a:rPr lang="ru-RU" sz="1800" dirty="0" err="1">
                <a:solidFill>
                  <a:schemeClr val="tx1"/>
                </a:solidFill>
              </a:rPr>
              <a:t>BankAccount</a:t>
            </a:r>
            <a:r>
              <a:rPr lang="ru-RU" sz="1800" dirty="0">
                <a:solidFill>
                  <a:schemeClr val="tx1"/>
                </a:solidFill>
              </a:rPr>
              <a:t> — отвечает за хранение данных одного банковского счёта и реализацию операций пополнения и снятия средств с проверкой корректности.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Bank — управляет коллекцией счетов, обеспечивает их создание, поиск и вычисление общего баланса.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Код разделён на .h и .</a:t>
            </a:r>
            <a:r>
              <a:rPr lang="ru-RU" sz="1800" dirty="0" err="1">
                <a:solidFill>
                  <a:schemeClr val="tx1"/>
                </a:solidFill>
              </a:rPr>
              <a:t>cpp</a:t>
            </a:r>
            <a:r>
              <a:rPr lang="ru-RU" sz="1800" dirty="0">
                <a:solidFill>
                  <a:schemeClr val="tx1"/>
                </a:solidFill>
              </a:rPr>
              <a:t>, инкапсуляция соблюдена (поля закрыты, доступ через методы), дублирование логики отсутствует. Взаимодействие классов организовано корректно: Bank управляет объектами </a:t>
            </a:r>
            <a:r>
              <a:rPr lang="ru-RU" sz="1800" dirty="0" err="1">
                <a:solidFill>
                  <a:schemeClr val="tx1"/>
                </a:solidFill>
              </a:rPr>
              <a:t>BankAccount</a:t>
            </a:r>
            <a:r>
              <a:rPr lang="ru-RU" sz="1800" dirty="0">
                <a:solidFill>
                  <a:schemeClr val="tx1"/>
                </a:solidFill>
              </a:rPr>
              <a:t>, а тестирование проводится через main.cpp.</a:t>
            </a:r>
          </a:p>
          <a:p>
            <a:pPr algn="just"/>
            <a:r>
              <a:rPr lang="ru-RU" sz="1800" dirty="0">
                <a:solidFill>
                  <a:schemeClr val="tx1"/>
                </a:solidFill>
              </a:rPr>
              <a:t>Документация оформлена в README.md: указаны роли участников, инструкции по сборке, описание классов и методов, пример работы программы, а также зафиксированы диалоги с нейросетью и возникшие технические проблемы с их решениями.</a:t>
            </a:r>
          </a:p>
        </p:txBody>
      </p:sp>
    </p:spTree>
    <p:extLst>
      <p:ext uri="{BB962C8B-B14F-4D97-AF65-F5344CB8AC3E}">
        <p14:creationId xmlns:p14="http://schemas.microsoft.com/office/powerpoint/2010/main" val="3813399919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VTI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VTI" id="{605F9078-86F9-4258-A3E1-F8EFF02AE8CC}" vid="{4848699B-BB01-41E3-9EC4-3D97DFE5292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Градиент</Template>
  <TotalTime>86</TotalTime>
  <Words>468</Words>
  <Application>Microsoft Office PowerPoint</Application>
  <PresentationFormat>Широкоэкранный</PresentationFormat>
  <Paragraphs>31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Arial</vt:lpstr>
      <vt:lpstr>Univers</vt:lpstr>
      <vt:lpstr>GradientVTI</vt:lpstr>
      <vt:lpstr>Семинар 1 Кейс 2: Система банковских счетов </vt:lpstr>
      <vt:lpstr>задачи</vt:lpstr>
      <vt:lpstr>Распределение ролей</vt:lpstr>
      <vt:lpstr>Репозиторий на GitHub </vt:lpstr>
      <vt:lpstr>Презентация PowerPoint</vt:lpstr>
      <vt:lpstr>Презентация PowerPoint</vt:lpstr>
      <vt:lpstr>Вывод программы в vs code</vt:lpstr>
      <vt:lpstr>Диалоги с нейросетью</vt:lpstr>
      <vt:lpstr>Диалоги с нейросетью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Лимаренко</dc:creator>
  <cp:lastModifiedBy>Дарья Лимаренко</cp:lastModifiedBy>
  <cp:revision>3</cp:revision>
  <dcterms:created xsi:type="dcterms:W3CDTF">2026-03-01T15:57:46Z</dcterms:created>
  <dcterms:modified xsi:type="dcterms:W3CDTF">2026-03-01T17:24:06Z</dcterms:modified>
</cp:coreProperties>
</file>